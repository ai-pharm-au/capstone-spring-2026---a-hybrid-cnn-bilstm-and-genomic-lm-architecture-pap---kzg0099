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(no GC/species)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0.59299999999999997</c:v>
                </c:pt>
                <c:pt idx="1">
                  <c:v>0.41599999999999998</c:v>
                </c:pt>
                <c:pt idx="2">
                  <c:v>0.753</c:v>
                </c:pt>
                <c:pt idx="3">
                  <c:v>0.73199999999999998</c:v>
                </c:pt>
                <c:pt idx="4">
                  <c:v>0.61499999999999999</c:v>
                </c:pt>
                <c:pt idx="5">
                  <c:v>0.72099999999999997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B8-6049-A95B-67CA32A992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(+GC+Species+ES)</c:v>
                </c:pt>
              </c:strCache>
            </c:strRef>
          </c:tx>
          <c:spPr>
            <a:solidFill>
              <a:srgbClr val="1A44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0.65200000000000002</c:v>
                </c:pt>
                <c:pt idx="1">
                  <c:v>0.60599999999999998</c:v>
                </c:pt>
                <c:pt idx="2">
                  <c:v>0.76800000000000002</c:v>
                </c:pt>
                <c:pt idx="3">
                  <c:v>0.75600000000000001</c:v>
                </c:pt>
                <c:pt idx="4">
                  <c:v>0.623</c:v>
                </c:pt>
                <c:pt idx="5">
                  <c:v>0.745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B8-6049-A95B-67CA32A992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(no GC/species)</c:v>
                </c:pt>
              </c:strCache>
            </c:strRef>
          </c:tx>
          <c:spPr>
            <a:solidFill>
              <a:srgbClr val="99F6E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0.58699999999999997</c:v>
                </c:pt>
                <c:pt idx="1">
                  <c:v>0.40400000000000003</c:v>
                </c:pt>
                <c:pt idx="2">
                  <c:v>0.752</c:v>
                </c:pt>
                <c:pt idx="3">
                  <c:v>0.73099999999999998</c:v>
                </c:pt>
                <c:pt idx="4">
                  <c:v>0.61199999999999999</c:v>
                </c:pt>
                <c:pt idx="5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1-4D4B-B744-BAECFC72EF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(+GC+Species+ES)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0.63400000000000001</c:v>
                </c:pt>
                <c:pt idx="1">
                  <c:v>0.59199999999999997</c:v>
                </c:pt>
                <c:pt idx="2">
                  <c:v>0.76100000000000001</c:v>
                </c:pt>
                <c:pt idx="3">
                  <c:v>0.751</c:v>
                </c:pt>
                <c:pt idx="4">
                  <c:v>0.625</c:v>
                </c:pt>
                <c:pt idx="5">
                  <c:v>0.72799999999999998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E1-4D4B-B744-BAECFC72E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(one-hot)</c:v>
                </c:pt>
              </c:strCache>
            </c:strRef>
          </c:tx>
          <c:spPr>
            <a:solidFill>
              <a:srgbClr val="1A448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0.78200000000000003</c:v>
                </c:pt>
                <c:pt idx="1">
                  <c:v>0.71599999999999997</c:v>
                </c:pt>
                <c:pt idx="2">
                  <c:v>1.25</c:v>
                </c:pt>
                <c:pt idx="3">
                  <c:v>1.238</c:v>
                </c:pt>
                <c:pt idx="4">
                  <c:v>0.92900000000000005</c:v>
                </c:pt>
                <c:pt idx="5">
                  <c:v>1.222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62-C149-8AFF-D8394E3CEE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LM Embedding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</c:v>
                </c:pt>
                <c:pt idx="1">
                  <c:v>0.03</c:v>
                </c:pt>
                <c:pt idx="2">
                  <c:v>4.5999999999999999E-2</c:v>
                </c:pt>
                <c:pt idx="3">
                  <c:v>3.4000000000000002E-2</c:v>
                </c:pt>
                <c:pt idx="4">
                  <c:v>6.9000000000000006E-2</c:v>
                </c:pt>
                <c:pt idx="5">
                  <c:v>6.5000000000000002E-2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62-C149-8AFF-D8394E3CEE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GC Content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1E-3</c:v>
                </c:pt>
                <c:pt idx="1">
                  <c:v>1E-3</c:v>
                </c:pt>
                <c:pt idx="2">
                  <c:v>1E-3</c:v>
                </c:pt>
                <c:pt idx="3">
                  <c:v>1E-3</c:v>
                </c:pt>
                <c:pt idx="4">
                  <c:v>1E-3</c:v>
                </c:pt>
                <c:pt idx="5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62-C149-8AFF-D8394E3CEE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Species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0.16700000000000001</c:v>
                </c:pt>
                <c:pt idx="1">
                  <c:v>0.45800000000000002</c:v>
                </c:pt>
                <c:pt idx="2">
                  <c:v>5.2999999999999999E-2</c:v>
                </c:pt>
                <c:pt idx="3">
                  <c:v>0.156</c:v>
                </c:pt>
                <c:pt idx="4">
                  <c:v>5.8000000000000003E-2</c:v>
                </c:pt>
                <c:pt idx="5">
                  <c:v>6.6000000000000003E-2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662-C149-8AFF-D8394E3CE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(one-hot)</c:v>
                </c:pt>
              </c:strCache>
            </c:strRef>
          </c:tx>
          <c:spPr>
            <a:solidFill>
              <a:srgbClr val="1A448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0.79200000000000004</c:v>
                </c:pt>
                <c:pt idx="1">
                  <c:v>0.72699999999999998</c:v>
                </c:pt>
                <c:pt idx="2">
                  <c:v>1.34</c:v>
                </c:pt>
                <c:pt idx="3">
                  <c:v>1.343</c:v>
                </c:pt>
                <c:pt idx="4">
                  <c:v>1.02</c:v>
                </c:pt>
                <c:pt idx="5">
                  <c:v>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13-9A44-A010-F3CA8476BB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LM Embedding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4.5999999999999999E-2</c:v>
                </c:pt>
                <c:pt idx="1">
                  <c:v>1.2E-2</c:v>
                </c:pt>
                <c:pt idx="2">
                  <c:v>1.4999999999999999E-2</c:v>
                </c:pt>
                <c:pt idx="3">
                  <c:v>6.0000000000000001E-3</c:v>
                </c:pt>
                <c:pt idx="4">
                  <c:v>3.5000000000000003E-2</c:v>
                </c:pt>
                <c:pt idx="5">
                  <c:v>2.4E-2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13-9A44-A010-F3CA8476BB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GC Content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1E-3</c:v>
                </c:pt>
                <c:pt idx="1">
                  <c:v>1E-3</c:v>
                </c:pt>
                <c:pt idx="2">
                  <c:v>1E-3</c:v>
                </c:pt>
                <c:pt idx="3">
                  <c:v>1E-3</c:v>
                </c:pt>
                <c:pt idx="4">
                  <c:v>1E-3</c:v>
                </c:pt>
                <c:pt idx="5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13-9A44-A010-F3CA8476BB9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Species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 enh
Dark Tob.</c:v>
                </c:pt>
                <c:pt idx="1">
                  <c:v>No enh
Dark Mz.</c:v>
                </c:pt>
                <c:pt idx="2">
                  <c:v>W/enh
Dark Tob.</c:v>
                </c:pt>
                <c:pt idx="3">
                  <c:v>W/enh
Dark Mz.</c:v>
                </c:pt>
                <c:pt idx="4">
                  <c:v>No enh
Light Tob.</c:v>
                </c:pt>
                <c:pt idx="5">
                  <c:v>W/enh
Light Tob.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0.115</c:v>
                </c:pt>
                <c:pt idx="1">
                  <c:v>0.39700000000000002</c:v>
                </c:pt>
                <c:pt idx="2">
                  <c:v>3.7999999999999999E-2</c:v>
                </c:pt>
                <c:pt idx="3">
                  <c:v>8.2000000000000003E-2</c:v>
                </c:pt>
                <c:pt idx="4">
                  <c:v>1.4999999999999999E-2</c:v>
                </c:pt>
                <c:pt idx="5">
                  <c:v>1.7999999999999999E-2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13-9A44-A010-F3CA8476B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predicted activity (log₂)</c:v>
                </c:pt>
              </c:strCache>
            </c:strRef>
          </c:tx>
          <c:spPr>
            <a:ln w="38100" cap="flat">
              <a:solidFill>
                <a:srgbClr val="1A44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4480"/>
              </a:solidFill>
              <a:ln w="9525" cap="flat">
                <a:solidFill>
                  <a:srgbClr val="1A4480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55</c:v>
                </c:pt>
                <c:pt idx="11">
                  <c:v>60</c:v>
                </c:pt>
                <c:pt idx="12">
                  <c:v>65</c:v>
                </c:pt>
                <c:pt idx="13">
                  <c:v>70</c:v>
                </c:pt>
                <c:pt idx="14">
                  <c:v>75</c:v>
                </c:pt>
                <c:pt idx="15">
                  <c:v>80</c:v>
                </c:pt>
                <c:pt idx="16">
                  <c:v>85</c:v>
                </c:pt>
                <c:pt idx="17">
                  <c:v>90</c:v>
                </c:pt>
                <c:pt idx="18">
                  <c:v>95</c:v>
                </c:pt>
                <c:pt idx="19">
                  <c:v>100</c:v>
                </c:pt>
                <c:pt idx="20">
                  <c:v>105</c:v>
                </c:pt>
                <c:pt idx="21">
                  <c:v>110</c:v>
                </c:pt>
                <c:pt idx="22">
                  <c:v>115</c:v>
                </c:pt>
                <c:pt idx="23">
                  <c:v>120</c:v>
                </c:pt>
                <c:pt idx="24">
                  <c:v>125</c:v>
                </c:pt>
                <c:pt idx="25">
                  <c:v>130</c:v>
                </c:pt>
                <c:pt idx="26">
                  <c:v>135</c:v>
                </c:pt>
                <c:pt idx="27">
                  <c:v>140</c:v>
                </c:pt>
                <c:pt idx="28">
                  <c:v>145</c:v>
                </c:pt>
                <c:pt idx="29">
                  <c:v>150</c:v>
                </c:pt>
                <c:pt idx="30">
                  <c:v>155</c:v>
                </c:pt>
                <c:pt idx="31">
                  <c:v>160</c:v>
                </c:pt>
                <c:pt idx="32">
                  <c:v>165</c:v>
                </c:pt>
                <c:pt idx="33">
                  <c:v>170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0.3745974503955587</c:v>
                </c:pt>
                <c:pt idx="1">
                  <c:v>0.38280640123868181</c:v>
                </c:pt>
                <c:pt idx="2">
                  <c:v>0.38624715344328703</c:v>
                </c:pt>
                <c:pt idx="3">
                  <c:v>0.38677917037707749</c:v>
                </c:pt>
                <c:pt idx="4">
                  <c:v>0.37509274850837954</c:v>
                </c:pt>
                <c:pt idx="5">
                  <c:v>0.38236291376241272</c:v>
                </c:pt>
                <c:pt idx="6">
                  <c:v>0.37743912102523308</c:v>
                </c:pt>
                <c:pt idx="7">
                  <c:v>0.38101007693080013</c:v>
                </c:pt>
                <c:pt idx="8">
                  <c:v>0.38365667480648047</c:v>
                </c:pt>
                <c:pt idx="9">
                  <c:v>0.38576002476570692</c:v>
                </c:pt>
                <c:pt idx="10">
                  <c:v>0.38589492719457291</c:v>
                </c:pt>
                <c:pt idx="11">
                  <c:v>0.38515297693378669</c:v>
                </c:pt>
                <c:pt idx="12">
                  <c:v>0.38525027835227377</c:v>
                </c:pt>
                <c:pt idx="13">
                  <c:v>0.37919132397125044</c:v>
                </c:pt>
                <c:pt idx="14">
                  <c:v>0.38738094186634969</c:v>
                </c:pt>
                <c:pt idx="15">
                  <c:v>0.37743326074954997</c:v>
                </c:pt>
                <c:pt idx="16">
                  <c:v>0.38605120950179456</c:v>
                </c:pt>
                <c:pt idx="17">
                  <c:v>0.38880086550114162</c:v>
                </c:pt>
                <c:pt idx="18">
                  <c:v>0.4081182853142723</c:v>
                </c:pt>
                <c:pt idx="19">
                  <c:v>0.44319138308117756</c:v>
                </c:pt>
                <c:pt idx="20">
                  <c:v>0.47509192153849189</c:v>
                </c:pt>
                <c:pt idx="21">
                  <c:v>0.53756723415966057</c:v>
                </c:pt>
                <c:pt idx="22">
                  <c:v>0.6260627690149404</c:v>
                </c:pt>
                <c:pt idx="23">
                  <c:v>0.71198981833921493</c:v>
                </c:pt>
                <c:pt idx="24">
                  <c:v>0.80402910649574866</c:v>
                </c:pt>
                <c:pt idx="25">
                  <c:v>0.88299578761351805</c:v>
                </c:pt>
                <c:pt idx="26">
                  <c:v>0.92340794403118032</c:v>
                </c:pt>
                <c:pt idx="27">
                  <c:v>0.919330190677489</c:v>
                </c:pt>
                <c:pt idx="28">
                  <c:v>0.89115010431331887</c:v>
                </c:pt>
                <c:pt idx="29">
                  <c:v>0.82353829541357426</c:v>
                </c:pt>
                <c:pt idx="30">
                  <c:v>0.72737805154734059</c:v>
                </c:pt>
                <c:pt idx="31">
                  <c:v>0.6335928178775867</c:v>
                </c:pt>
                <c:pt idx="32">
                  <c:v>0.56377115269813594</c:v>
                </c:pt>
                <c:pt idx="33">
                  <c:v>0.4917086422662017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408-0745-835B-4E97F1F42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TATA insertion position (bp)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Mean predicted activity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predicted activity</c:v>
                </c:pt>
              </c:strCache>
            </c:strRef>
          </c:tx>
          <c:spPr>
            <a:ln w="44450" cap="flat">
              <a:solidFill>
                <a:srgbClr val="1580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803D"/>
              </a:solidFill>
              <a:ln w="9525" cap="flat">
                <a:solidFill>
                  <a:srgbClr val="15803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5803D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R0</c:v>
                </c:pt>
                <c:pt idx="1">
                  <c:v>R1</c:v>
                </c:pt>
                <c:pt idx="2">
                  <c:v>R2</c:v>
                </c:pt>
                <c:pt idx="3">
                  <c:v>R3</c:v>
                </c:pt>
                <c:pt idx="4">
                  <c:v>R4</c:v>
                </c:pt>
                <c:pt idx="5">
                  <c:v>R5</c:v>
                </c:pt>
                <c:pt idx="6">
                  <c:v>R6</c:v>
                </c:pt>
                <c:pt idx="7">
                  <c:v>R7</c:v>
                </c:pt>
                <c:pt idx="8">
                  <c:v>R8</c:v>
                </c:pt>
                <c:pt idx="9">
                  <c:v>R9</c:v>
                </c:pt>
                <c:pt idx="10">
                  <c:v>R10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1.2</c:v>
                </c:pt>
                <c:pt idx="1">
                  <c:v>1.48</c:v>
                </c:pt>
                <c:pt idx="2">
                  <c:v>1.7</c:v>
                </c:pt>
                <c:pt idx="3">
                  <c:v>1.87</c:v>
                </c:pt>
                <c:pt idx="4">
                  <c:v>2</c:v>
                </c:pt>
                <c:pt idx="5">
                  <c:v>2.1</c:v>
                </c:pt>
                <c:pt idx="6">
                  <c:v>2.1800000000000002</c:v>
                </c:pt>
                <c:pt idx="7">
                  <c:v>2.2400000000000002</c:v>
                </c:pt>
                <c:pt idx="8">
                  <c:v>2.2799999999999998</c:v>
                </c:pt>
                <c:pt idx="9">
                  <c:v>2.31</c:v>
                </c:pt>
                <c:pt idx="10">
                  <c:v>2.33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4AF-1E48-801C-FBB0D80FC18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Evolution round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6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Predicted activity (log₂)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Attribution score</c:v>
                </c:pt>
              </c:strCache>
            </c:strRef>
          </c:tx>
          <c:spPr>
            <a:solidFill>
              <a:srgbClr val="1A4480"/>
            </a:solidFill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1</c:v>
                </c:pt>
                <c:pt idx="1">
                  <c:v>6</c:v>
                </c:pt>
                <c:pt idx="2">
                  <c:v>11</c:v>
                </c:pt>
                <c:pt idx="3">
                  <c:v>16</c:v>
                </c:pt>
                <c:pt idx="4">
                  <c:v>21</c:v>
                </c:pt>
                <c:pt idx="5">
                  <c:v>26</c:v>
                </c:pt>
                <c:pt idx="6">
                  <c:v>31</c:v>
                </c:pt>
                <c:pt idx="7">
                  <c:v>36</c:v>
                </c:pt>
                <c:pt idx="8">
                  <c:v>41</c:v>
                </c:pt>
                <c:pt idx="9">
                  <c:v>46</c:v>
                </c:pt>
                <c:pt idx="10">
                  <c:v>51</c:v>
                </c:pt>
                <c:pt idx="11">
                  <c:v>56</c:v>
                </c:pt>
                <c:pt idx="12">
                  <c:v>61</c:v>
                </c:pt>
                <c:pt idx="13">
                  <c:v>66</c:v>
                </c:pt>
                <c:pt idx="14">
                  <c:v>71</c:v>
                </c:pt>
                <c:pt idx="15">
                  <c:v>76</c:v>
                </c:pt>
                <c:pt idx="16">
                  <c:v>81</c:v>
                </c:pt>
                <c:pt idx="17">
                  <c:v>86</c:v>
                </c:pt>
                <c:pt idx="18">
                  <c:v>91</c:v>
                </c:pt>
                <c:pt idx="19">
                  <c:v>96</c:v>
                </c:pt>
                <c:pt idx="20">
                  <c:v>101</c:v>
                </c:pt>
                <c:pt idx="21">
                  <c:v>106</c:v>
                </c:pt>
                <c:pt idx="22">
                  <c:v>111</c:v>
                </c:pt>
                <c:pt idx="23">
                  <c:v>116</c:v>
                </c:pt>
                <c:pt idx="24">
                  <c:v>121</c:v>
                </c:pt>
                <c:pt idx="25">
                  <c:v>126</c:v>
                </c:pt>
                <c:pt idx="26">
                  <c:v>131</c:v>
                </c:pt>
                <c:pt idx="27">
                  <c:v>136</c:v>
                </c:pt>
                <c:pt idx="28">
                  <c:v>141</c:v>
                </c:pt>
                <c:pt idx="29">
                  <c:v>146</c:v>
                </c:pt>
                <c:pt idx="30">
                  <c:v>151</c:v>
                </c:pt>
                <c:pt idx="31">
                  <c:v>156</c:v>
                </c:pt>
                <c:pt idx="32">
                  <c:v>161</c:v>
                </c:pt>
                <c:pt idx="33">
                  <c:v>166</c:v>
                </c:pt>
                <c:pt idx="34">
                  <c:v>171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-0.02</c:v>
                </c:pt>
                <c:pt idx="1">
                  <c:v>0.01</c:v>
                </c:pt>
                <c:pt idx="2">
                  <c:v>0.03</c:v>
                </c:pt>
                <c:pt idx="3">
                  <c:v>-0.01</c:v>
                </c:pt>
                <c:pt idx="4">
                  <c:v>0.04</c:v>
                </c:pt>
                <c:pt idx="5">
                  <c:v>0.02</c:v>
                </c:pt>
                <c:pt idx="6">
                  <c:v>0.06</c:v>
                </c:pt>
                <c:pt idx="7">
                  <c:v>0.03</c:v>
                </c:pt>
                <c:pt idx="8">
                  <c:v>-0.02</c:v>
                </c:pt>
                <c:pt idx="9">
                  <c:v>0.01</c:v>
                </c:pt>
                <c:pt idx="10">
                  <c:v>0.05</c:v>
                </c:pt>
                <c:pt idx="11">
                  <c:v>0.08</c:v>
                </c:pt>
                <c:pt idx="12">
                  <c:v>0.12</c:v>
                </c:pt>
                <c:pt idx="13">
                  <c:v>0.18</c:v>
                </c:pt>
                <c:pt idx="14">
                  <c:v>0.28000000000000003</c:v>
                </c:pt>
                <c:pt idx="15">
                  <c:v>0.42</c:v>
                </c:pt>
                <c:pt idx="16">
                  <c:v>0.55000000000000004</c:v>
                </c:pt>
                <c:pt idx="17">
                  <c:v>0.48</c:v>
                </c:pt>
                <c:pt idx="18">
                  <c:v>0.32</c:v>
                </c:pt>
                <c:pt idx="19">
                  <c:v>0.18</c:v>
                </c:pt>
                <c:pt idx="20">
                  <c:v>0.08</c:v>
                </c:pt>
                <c:pt idx="21">
                  <c:v>0.04</c:v>
                </c:pt>
                <c:pt idx="22">
                  <c:v>0.02</c:v>
                </c:pt>
                <c:pt idx="23">
                  <c:v>-0.03</c:v>
                </c:pt>
                <c:pt idx="24">
                  <c:v>0.01</c:v>
                </c:pt>
                <c:pt idx="25">
                  <c:v>-0.01</c:v>
                </c:pt>
                <c:pt idx="26">
                  <c:v>0.02</c:v>
                </c:pt>
                <c:pt idx="27">
                  <c:v>0</c:v>
                </c:pt>
                <c:pt idx="28">
                  <c:v>-0.02</c:v>
                </c:pt>
                <c:pt idx="29">
                  <c:v>0.01</c:v>
                </c:pt>
                <c:pt idx="30">
                  <c:v>-0.01</c:v>
                </c:pt>
                <c:pt idx="31">
                  <c:v>0.02</c:v>
                </c:pt>
                <c:pt idx="32">
                  <c:v>0.01</c:v>
                </c:pt>
                <c:pt idx="33">
                  <c:v>-0.01</c:v>
                </c:pt>
                <c:pt idx="3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A3-8842-B7E8-87CEDEE979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Approximate position (bp)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-0.1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Attribution score (InputXGradient)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Matched filters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C6-904B-8AB5-21311639B309}"/>
              </c:ext>
            </c:extLst>
          </c:dPt>
          <c:dPt>
            <c:idx val="1"/>
            <c:invertIfNegative val="0"/>
            <c:bubble3D val="0"/>
            <c:spPr>
              <a:solidFill>
                <a:srgbClr val="1A44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C6-904B-8AB5-21311639B309}"/>
              </c:ext>
            </c:extLst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C6-904B-8AB5-21311639B309}"/>
              </c:ext>
            </c:extLst>
          </c:dPt>
          <c:dPt>
            <c:idx val="3"/>
            <c:invertIfNegative val="0"/>
            <c:bubble3D val="0"/>
            <c:spPr>
              <a:solidFill>
                <a:srgbClr val="5B21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C6-904B-8AB5-21311639B309}"/>
              </c:ext>
            </c:extLst>
          </c:dPt>
          <c:dPt>
            <c:idx val="4"/>
            <c:invertIfNegative val="0"/>
            <c:bubble3D val="0"/>
            <c:spPr>
              <a:solidFill>
                <a:srgbClr val="1580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C6-904B-8AB5-21311639B309}"/>
              </c:ext>
            </c:extLst>
          </c:dPt>
          <c:dPt>
            <c:idx val="5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AC6-904B-8AB5-21311639B3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TATA/TBP</c:v>
                </c:pt>
                <c:pt idx="1">
                  <c:v>TCP</c:v>
                </c:pt>
                <c:pt idx="2">
                  <c:v>ERF</c:v>
                </c:pt>
                <c:pt idx="3">
                  <c:v>MYB</c:v>
                </c:pt>
                <c:pt idx="4">
                  <c:v>WRKY</c:v>
                </c:pt>
                <c:pt idx="5">
                  <c:v>DOF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7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AC6-904B-8AB5-21311639B3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TATA-box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Dark
Tob.</c:v>
                </c:pt>
                <c:pt idx="1">
                  <c:v>Dark
Mz.</c:v>
                </c:pt>
                <c:pt idx="2">
                  <c:v>W/enh
Dark T.</c:v>
                </c:pt>
                <c:pt idx="3">
                  <c:v>W/enh
Dark M.</c:v>
                </c:pt>
                <c:pt idx="4">
                  <c:v>Light
Tob.</c:v>
                </c:pt>
                <c:pt idx="5">
                  <c:v>W/enh
Light T.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0.28000000000000003</c:v>
                </c:pt>
                <c:pt idx="2">
                  <c:v>0.68</c:v>
                </c:pt>
                <c:pt idx="3">
                  <c:v>0.55000000000000004</c:v>
                </c:pt>
                <c:pt idx="4">
                  <c:v>0.39</c:v>
                </c:pt>
                <c:pt idx="5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F-3748-A981-2EF3569312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TATA-box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Dark
Tob.</c:v>
                </c:pt>
                <c:pt idx="1">
                  <c:v>Dark
Mz.</c:v>
                </c:pt>
                <c:pt idx="2">
                  <c:v>W/enh
Dark T.</c:v>
                </c:pt>
                <c:pt idx="3">
                  <c:v>W/enh
Dark M.</c:v>
                </c:pt>
                <c:pt idx="4">
                  <c:v>Light
Tob.</c:v>
                </c:pt>
                <c:pt idx="5">
                  <c:v>W/enh
Light T.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0.64</c:v>
                </c:pt>
                <c:pt idx="1">
                  <c:v>0.43</c:v>
                </c:pt>
                <c:pt idx="2">
                  <c:v>0.96</c:v>
                </c:pt>
                <c:pt idx="3">
                  <c:v>0.82</c:v>
                </c:pt>
                <c:pt idx="4">
                  <c:v>0.56000000000000005</c:v>
                </c:pt>
                <c:pt idx="5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6F-3748-A981-2EF3569312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4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"/>
            <a:ext cx="164592" cy="164592"/>
          </a:xfrm>
          <a:prstGeom prst="ellipse">
            <a:avLst/>
          </a:prstGeom>
          <a:solidFill>
            <a:srgbClr val="14919B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03336" y="53949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22208" y="1005840"/>
            <a:ext cx="164592" cy="164592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04504" y="108813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1554480"/>
            <a:ext cx="164592" cy="164592"/>
          </a:xfrm>
          <a:prstGeom prst="ellipse">
            <a:avLst/>
          </a:prstGeom>
          <a:solidFill>
            <a:srgbClr val="14919B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03336" y="163677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22208" y="2103120"/>
            <a:ext cx="164592" cy="164592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04504" y="218541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21040" y="2651760"/>
            <a:ext cx="164592" cy="164592"/>
          </a:xfrm>
          <a:prstGeom prst="ellipse">
            <a:avLst/>
          </a:prstGeom>
          <a:solidFill>
            <a:srgbClr val="14919B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03336" y="273405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22208" y="3200400"/>
            <a:ext cx="164592" cy="164592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04504" y="328269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3749040"/>
            <a:ext cx="164592" cy="164592"/>
          </a:xfrm>
          <a:prstGeom prst="ellipse">
            <a:avLst/>
          </a:prstGeom>
          <a:solidFill>
            <a:srgbClr val="14919B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3336" y="3831336"/>
            <a:ext cx="201168" cy="548640"/>
          </a:xfrm>
          <a:prstGeom prst="line">
            <a:avLst/>
          </a:prstGeom>
          <a:noFill/>
          <a:ln w="12700">
            <a:solidFill>
              <a:srgbClr val="14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22208" y="4297680"/>
            <a:ext cx="164592" cy="164592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400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CNN+BiLSTM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Genomic LM Architecture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4864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Quantitative Plant Promoter Activity Prediction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2633472"/>
            <a:ext cx="5029200" cy="0"/>
          </a:xfrm>
          <a:prstGeom prst="line">
            <a:avLst/>
          </a:prstGeom>
          <a:noFill/>
          <a:ln w="1905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Koushik Govardhanam</a:t>
            </a:r>
            <a:r>
              <a:rPr lang="en-US" sz="15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Auburn University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182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Spring 2026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AgroNT-1b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39696" y="4480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155E75">
              <a:alpha val="80000"/>
            </a:srgbClr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39696" y="4480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GENERator-v2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22192" y="4480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1A4480">
              <a:alpha val="80000"/>
            </a:srgbClr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22192" y="4480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CNN+BiLSTM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04688" y="4480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5B21B6">
              <a:alpha val="80000"/>
            </a:srgbClr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04688" y="4480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Conditions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87184" y="4480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374151">
              <a:alpha val="8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87184" y="4480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78,677 Sequences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920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06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plant promoter activity from sequence?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39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170bp sequences, two LM backbones, CNN+BiLSTM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569464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624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(v1 → v2)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content, species encoding, early stopping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2841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657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comparisons across 6 conditions, 2 backbones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87368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08736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drives predictions?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05156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92040" y="1051560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10515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1106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Suite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· zone clustering · TATA insertion · evolution · attribution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1810512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92040" y="1810512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181051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9496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JASPAR Enrichment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2139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motif enrichment in high-importance regions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256946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92040" y="2569464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256946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94960" y="2624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 Validation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9496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promoter CPE &amp; TFBS predictions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328416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92040" y="3328416"/>
            <a:ext cx="411480" cy="658368"/>
          </a:xfrm>
          <a:prstGeom prst="roundRect">
            <a:avLst>
              <a:gd name="adj" fmla="val 1333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332841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496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94960" y="3657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limitations,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7903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plant promoter activity from sequence alone?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605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160520" cy="34747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promoters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29968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bp upstream of TSS controls expression timing, location, and level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189280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011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011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appear at exact position (bp 135–145) to function — positional logic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39572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TFBS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9968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Orientation-specific; bag-of-words k-mer models lose this entirely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289864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baseline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XGBoost/CatBoost ceiling R² ≈ 0.54 — positional info is critical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40156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520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Billion-param LMs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29968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prohibited on 76K seqs — overfitting risk, GPU 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1051560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3886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19472" y="1554480"/>
            <a:ext cx="146304" cy="146304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38928" y="1527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CNN+BiLSTM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5936" y="15270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motifs + positional context; 631K params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9472" y="2048256"/>
            <a:ext cx="146304" cy="14630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38928" y="2020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45936" y="202082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AgroNT-1b or GENERator-v2; global context, 0 gradient updates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254203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45936" y="2514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accessibility proxy; 1-dim scalar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19472" y="3035808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38928" y="3008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45936" y="30083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3-dim one-hot: Arabidopsis / Maize / Sorghum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9472" y="3529584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38928" y="35021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&lt;1.1M params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45936" y="35021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in &lt;30 min on NVIDIA L4 — efficient &amp; scalable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4224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up to 0.768 — beats baseline in 11/12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362" y="1597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Arabidopsis thaliana promoter activity resource — 78,677 sequences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5720" cy="100584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78,677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170bp sequences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30552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30552" y="1051560"/>
            <a:ext cx="4572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67712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67712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conditions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95344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95344" y="1051560"/>
            <a:ext cx="4572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32504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032504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species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0136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0136" y="1051560"/>
            <a:ext cx="4572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97296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797296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measurement unit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1025973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24928" y="1051560"/>
            <a:ext cx="45720" cy="10058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562088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21284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Experimental Conditions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1920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(approx.)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enh, Dark, Tobacco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Tobacco leaf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enh, Dark, Maize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protoplast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71,859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enh, Dark, Tobacco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Tobacco leaf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75,422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enh, Dark, Maize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protoplast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enh, Light, Tobacco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Tobacco leaf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enh, Light, Tobacco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Tobacco leaf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241" y="-99621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— v2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7513" y="385011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CNN+BiLSTM + Frozen LM + GC content + Species identity → 6 regression heads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0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9497" y="659331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448025" y="760878"/>
            <a:ext cx="4572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48025" y="851355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170 bp Promoter Sequence  |  4×170 one-hot  |  78,677 sequences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45305" y="1236366"/>
            <a:ext cx="0" cy="347472"/>
          </a:xfrm>
          <a:prstGeom prst="line">
            <a:avLst/>
          </a:prstGeom>
          <a:noFill/>
          <a:ln w="1905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14724" y="1236366"/>
            <a:ext cx="0" cy="347472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9225" y="1575496"/>
            <a:ext cx="3246120" cy="34747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225" y="1575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CNN+BiLSTM  [Trainable]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225" y="1922968"/>
            <a:ext cx="3246120" cy="365760"/>
          </a:xfrm>
          <a:prstGeom prst="rect">
            <a:avLst/>
          </a:prstGeom>
          <a:solidFill>
            <a:srgbClr val="D1E8FF">
              <a:alpha val="80000"/>
            </a:srgbClr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9225" y="1922968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Conv1d(k=8, 128 filters) → BatchNorm → ReLU → Drop(0.1)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225" y="2325304"/>
            <a:ext cx="3246120" cy="365760"/>
          </a:xfrm>
          <a:prstGeom prst="rect">
            <a:avLst/>
          </a:prstGeom>
          <a:solidFill>
            <a:srgbClr val="D1E8FF">
              <a:alpha val="80000"/>
            </a:srgbClr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225" y="2325304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Conv1d(k=4,  64 filters) → BatchNorm → ReLU → Drop(0.1)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225" y="2727640"/>
            <a:ext cx="3246120" cy="365760"/>
          </a:xfrm>
          <a:prstGeom prst="rect">
            <a:avLst/>
          </a:prstGeom>
          <a:solidFill>
            <a:srgbClr val="D1E8FF">
              <a:alpha val="80000"/>
            </a:srgbClr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225" y="2727640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(2 layers, h=128/dir) → concat final states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225" y="3129976"/>
            <a:ext cx="3246120" cy="365760"/>
          </a:xfrm>
          <a:prstGeom prst="rect">
            <a:avLst/>
          </a:prstGeom>
          <a:solidFill>
            <a:srgbClr val="1A448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225" y="3129976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256-dim embedding   (631,360 trainable params)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02705" y="1587448"/>
            <a:ext cx="32461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02705" y="1587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— Frozen Genomic LM  [0 gradient]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02705" y="1934920"/>
            <a:ext cx="3246120" cy="365760"/>
          </a:xfrm>
          <a:prstGeom prst="rect">
            <a:avLst/>
          </a:prstGeom>
          <a:solidFill>
            <a:srgbClr val="CCFBF1">
              <a:alpha val="80000"/>
            </a:srgbClr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02705" y="1934920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AgroNT-1b: 6-mer tokenization → 165 tokens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02705" y="2337256"/>
            <a:ext cx="3246120" cy="365760"/>
          </a:xfrm>
          <a:prstGeom prst="rect">
            <a:avLst/>
          </a:prstGeom>
          <a:solidFill>
            <a:srgbClr val="CCFBF1">
              <a:alpha val="80000"/>
            </a:srgbClr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02705" y="2337256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GENERator-v2: BOS + 168bp left-trunc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02705" y="2739592"/>
            <a:ext cx="3246120" cy="365760"/>
          </a:xfrm>
          <a:prstGeom prst="rect">
            <a:avLst/>
          </a:prstGeom>
          <a:solidFill>
            <a:srgbClr val="CCFBF1">
              <a:alpha val="80000"/>
            </a:srgbClr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02705" y="2739592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 last hidden state (frozen)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02705" y="3141928"/>
            <a:ext cx="3246120" cy="365760"/>
          </a:xfrm>
          <a:prstGeom prst="rect">
            <a:avLst/>
          </a:prstGeom>
          <a:solidFill>
            <a:srgbClr val="0D7377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02705" y="3141928"/>
            <a:ext cx="3246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1500-dim (AgroNT) / 2048-dim (GENERator)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3472" y="3576267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79345" y="3704283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  (1-dim)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5113" y="3593673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5B21B6">
              <a:alpha val="90000"/>
            </a:srgbClr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70985" y="3704283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ID  (3-dim)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41993" y="3978603"/>
            <a:ext cx="1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045563" y="3996009"/>
            <a:ext cx="5293" cy="23862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246857" y="3507688"/>
            <a:ext cx="0" cy="714995"/>
          </a:xfrm>
          <a:prstGeom prst="line">
            <a:avLst/>
          </a:prstGeom>
          <a:noFill/>
          <a:ln w="1905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06274" y="3479373"/>
            <a:ext cx="0" cy="63093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84985" y="4132125"/>
            <a:ext cx="7498080" cy="40233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4985" y="4234635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&amp; Fusion  |  1760-dim (AgroNT)  |  2308-dim (GENERator)  |  ~1.1M trainable params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4025" y="4534461"/>
            <a:ext cx="0" cy="30367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02920" y="46863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468630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38528" y="46863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938528" y="468630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74136" y="46863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74136" y="468630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W/enh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Tob.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9744" y="46863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9744" y="468630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W/enh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Mz.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45352" y="46863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45352" y="468630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80960" y="46863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7F1D1D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80960" y="468630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W/enh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Tob.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3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v2: What Changed and Why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targeted improvements to the original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457200" cy="1225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457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097280"/>
            <a:ext cx="705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GC Content + Species Identity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389888"/>
            <a:ext cx="7059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Permutation importance revealed species encoding drives +0.190 R² in Maize condition; GC is implicit in CNN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1737360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GC: sum({G,C})/170 as 1-dim float • Species: 3-dim one-hot [Arabidopsis, Maize, Sorghum]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dim: AgroNT 1756→1760 | GENERator 2304→2308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82296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457200" cy="1225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457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2432304"/>
            <a:ext cx="705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+ Early Stopping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724912"/>
            <a:ext cx="7059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OneCycleLR pre-schedules LR over full epoch count — incompatible with early stopping; causes wrong LR at halt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3072384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ReduceLROnPlateau: factor=0.5, patience=3, min_lr=1e-5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patience=5 | Best-epoch weights restored | Max 20 epochs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82296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457200" cy="12252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94176"/>
            <a:ext cx="457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" y="3767328"/>
            <a:ext cx="7059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 One-Hot Bug Fix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059936"/>
            <a:ext cx="7059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v1 passed all-zero matrices to CNN branch for synthetic sequences — predictions were effectively AgroNT-only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4407408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v2: each synthetic sequence properly encoded via one_hot_encode(seq) per batch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recomputed per mutation in ISM | make_loaders as named function (closure fix)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051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AgroNT Hybrid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v2: Mean R² improves from 0.638 → 0.692 (+0.054)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4864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05156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Improvements (Δ)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399032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36208" y="14813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enh, Dark, Tobacco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82128" y="14813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+0.059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36208" y="190195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enh, Dark, Maize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82128" y="190195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36208" y="23225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enh, Dark, Tobacco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82128" y="232257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36208" y="2743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enh, Dark, Maize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82128" y="27432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36208" y="316382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enh, Light, Tobacco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82128" y="316382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+0.008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36208" y="35844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enh, Light, Tob.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882128" y="35844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36208" y="40050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882128" y="400507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XGBoost/CatBoost R² ≈ 0.54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3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GENERator Hybrid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v2: Mean R² improves from 0.634 → 0.682 (+0.048)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4864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05156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Comparison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164238"/>
              </p:ext>
            </p:extLst>
          </p:nvPr>
        </p:nvGraphicFramePr>
        <p:xfrm>
          <a:off x="6144768" y="1481328"/>
          <a:ext cx="2615184" cy="2029968"/>
        </p:xfrm>
        <a:graphic>
          <a:graphicData uri="http://schemas.openxmlformats.org/drawingml/2006/table">
            <a:tbl>
              <a:tblPr/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enh, Dark, Tob.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4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enh, Dark, Mz.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4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W/enh, Dark, Tob.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4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W/enh, Dark, Mz.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4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enh, Light, Tob.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4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W/enh, Light, Tob.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4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R²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195060" y="38953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 leads by Δ=0.010 mean R²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(plant-specific pretraining advantage)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531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Feature Importance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input branch is actually driving predictions? (N=5 repeats, R² drop)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 v2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28016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v2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46320" y="128016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75488" y="4608576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7200" y="4498848"/>
            <a:ext cx="1993392" cy="109728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6928" y="462686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Dominates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" y="482803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drop 0.72–1.34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conditions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633472" y="4613709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2633472" y="4498848"/>
            <a:ext cx="1993392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0" y="462686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Adds Modest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0" y="480974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0.006–0.069 R² drop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prior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28032" y="4623816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809744" y="4498848"/>
            <a:ext cx="1993392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919472" y="462686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≈ Zero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19472" y="480974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implicit 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995160" y="4608576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986016" y="4498848"/>
            <a:ext cx="1993392" cy="1097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095744" y="462686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= Maize Key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095744" y="480974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0.397–0.458 drop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No-enh Maize only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14710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In-Silico Saturation Mutagenesis (ISM)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Per-position importance: mean |Δprediction| across 3 alternative nucleotides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10896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ISM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99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position (1–170)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1975104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3 alternative nucleotides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441448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432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model with mutated sequence + new GC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907792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|Δprediction| per condition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374136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364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3 alternatives → importance[pos]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3840480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&gt;75th pct → 'active' region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49040" y="1051560"/>
            <a:ext cx="49377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49040" y="1051560"/>
            <a:ext cx="493776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1051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ISM Findings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profile (schematic) — representative Arabidopsis sequence: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2167128"/>
            <a:ext cx="1463040" cy="576072"/>
          </a:xfrm>
          <a:prstGeom prst="rect">
            <a:avLst/>
          </a:prstGeom>
          <a:solidFill>
            <a:srgbClr val="1A3A5F">
              <a:alpha val="80000"/>
            </a:srgbClr>
          </a:solidFill>
          <a:ln w="12700">
            <a:solidFill>
              <a:srgbClr val="1A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0" y="2130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 bp 1–50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 = 0.45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13248" y="2256739"/>
            <a:ext cx="1463040" cy="486461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13248" y="222016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 bp 51–100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13248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 = 0.38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86016" y="1693469"/>
            <a:ext cx="1463040" cy="1049731"/>
          </a:xfrm>
          <a:prstGeom prst="rect">
            <a:avLst/>
          </a:prstGeom>
          <a:solidFill>
            <a:srgbClr val="5B21B6">
              <a:alpha val="80000"/>
            </a:srgbClr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86016" y="165689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 bp 101–170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86016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 = 0.82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2743200"/>
            <a:ext cx="4718304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40480" y="3090672"/>
            <a:ext cx="109728" cy="1097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41648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High-importance cluster: bp 108–145 (Late zone)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40480" y="3438144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041648" y="3410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 proximal region consistently detected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0" y="3785616"/>
            <a:ext cx="109728" cy="109728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41648" y="3758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zone rises in With-enhancer conditions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840480" y="413308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41648" y="41056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condition shows distributed importance (no single peak)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840480" y="4480560"/>
            <a:ext cx="109728" cy="10972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041648" y="4453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 &amp; GENERator show qualitatively identical zone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 Positional Insertion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Fig. 2f equivalent — validating position-sensitivity independent of ISM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474720" y="169164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47472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bp 130–145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(canonical TATA location)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10515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6208" y="148132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Position-sensitive: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36208" y="16642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peaks at canonical TATA location (bp 130–145), not randomly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36208" y="199339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36208" y="21762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ISM findings via separate perturbation approach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36208" y="2505456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match: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36208" y="268833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bp upstream of TSS = canonical TATA-box location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36208" y="30175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 context: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36208" y="32004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is sharper in with-enhancer conditions (higher R²)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236208" y="352958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broader: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36208" y="37124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Shallower peak consistent with distributed importance in maize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5262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test sequences × 170 insertion positions each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257" y="173737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In-Silico Sequence Evolution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Fig. 2g equivalent — greedy single-nucleotide optimization over 10 rounds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5156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051560"/>
            <a:ext cx="27432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Pattern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53328" y="14813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positions cluster in bp 110–150 (TATA-proximal &amp; initiator region)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53328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T→A: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2029968"/>
            <a:ext cx="806501" cy="25603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08469" y="20299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53328" y="2432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A→T: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0" y="2450592"/>
            <a:ext cx="537667" cy="256032"/>
          </a:xfrm>
          <a:prstGeom prst="rect">
            <a:avLst/>
          </a:prstGeom>
          <a:solidFill>
            <a:srgbClr val="1A4480">
              <a:alpha val="85000"/>
            </a:srgbClr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9635" y="24505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53328" y="28529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C→T: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2871216"/>
            <a:ext cx="345643" cy="256032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47611" y="28712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53328" y="3273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83680" y="3291840"/>
            <a:ext cx="230429" cy="256032"/>
          </a:xfrm>
          <a:prstGeom prst="rect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32397" y="3291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53328" y="37033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T→A and A→T substitutions dominate →</a:t>
            </a:r>
            <a:endParaRPr lang="en-US" sz="10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TATAAA motif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4439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 sequences × 10 greedy rounds | With-enhancer/Dark/Tobacco condition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13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 Attribution — InputXGradient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Fig. 2e equivalent — signed per-nucleotide importance on top-5 sequences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606040" y="138988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06040" y="1389888"/>
            <a:ext cx="1828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 region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128–145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10515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Insights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6208" y="14813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× Gradient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36208" y="16824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product of one-hot and ∂pred/∂input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36208" y="199339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scores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219456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nucleotides that increase predicted activity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36208" y="25054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scores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36208" y="270662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suppressive nucleotides (rare outside TATA region)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36208" y="30175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consensus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36208" y="321868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TATAAA at bp 128–145 → highest positive attribution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236208" y="352958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pattern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36208" y="373075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distributed across full 170bp window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2428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highest-predicted test sequences per condition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91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Filter Motif Visualization + JASPAR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Fig. 2c,d equivalent — PFM logos matched against JASPAR CORE Plants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926080" cy="3794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926080" cy="34747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8-mer subsequences maximally activating each Conv1d filter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0116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PFM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0432" y="201168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frequency matrix from k subsequences per filter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5146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514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0432" y="25146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nucleotide frequencies as sequence logo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70432" y="30175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PFM vs JASPAR CORE Plants via log-likelihood scoring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52044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" y="352044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score threshold → annotate filter with TF family name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105156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66160" y="1051560"/>
            <a:ext cx="51663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66160" y="105156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JASPAR-Matched TF Families (both models)</a:t>
            </a:r>
            <a:endParaRPr lang="en-US" sz="13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566160" y="1463040"/>
          <a:ext cx="5166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3566160" y="3913632"/>
            <a:ext cx="5166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TATA/TBP (18 filters)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— confirms model detects TATA-box motifs in the critical promoter window
</a:t>
            </a:r>
            <a:r>
              <a:rPr lang="en-US" sz="1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ERF + MYB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developmental and stress-response regulators — biologically consistent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JASPAR Motif Enrichment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validation: are TF motifs enriched in ISM high-importance regions?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200400" cy="37947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20040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237744" cy="23774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36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527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regions at median importance → high vs background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066544"/>
            <a:ext cx="237744" cy="23774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066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 JASPAR PFM scoring (threshold 0.60)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596896"/>
            <a:ext cx="237744" cy="23774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Fisher's exact test on 2×2 contingency table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127248"/>
            <a:ext cx="237744" cy="23774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127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3118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 correction for number of motifs tested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657600"/>
            <a:ext cx="237744" cy="23774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648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Significant: Bonferroni-adj p &lt; 0.05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0" y="1051560"/>
            <a:ext cx="48920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0" y="1051560"/>
            <a:ext cx="489204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Results (Both Models)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8768" y="1481328"/>
          <a:ext cx="4855464" cy="2148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p-adj (BF)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TATA-box (TBP)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3.4–4.7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2.1–2.8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ERF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1.7–2.1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MYB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1.4–1.8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GC-rich motifs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0.9–1.1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(confirms permutation importance)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3840480" y="4041648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931920" y="4096512"/>
            <a:ext cx="4709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TATA/TBP, TCP, and ERF motifs are statistically enriched in ISM high-importance regions. GC-content motifs show no enrichment — corroborating the permutation importance result. Six independent methods converge on the same biological conclusion.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75581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 Synthetic Promoter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2,956 synthetic sequences with designed CPE+TFBS combinations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 effect on predicted activity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280160"/>
          <a:ext cx="5303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00584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0" y="1005840"/>
            <a:ext cx="278892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10058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Combination Ranking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53328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TATA+Inr+Y-patch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53328" y="1618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activity across all conditions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53328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TATA+Inr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53328" y="2075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especially with enhancer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53328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 only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53328" y="2532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activity boost in all cond.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53328" y="2788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only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53328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condition-dependent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53328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CPE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53328" y="3447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baseline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66928" y="4352544"/>
            <a:ext cx="801014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confirmed: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CNN branch receives proper one-hot encodings for synthetic sequences. TATA-box monotonically increases predicted activity (Δmedian +0.12 to +0.31 log₂). TFBS insertions additively increase predictions in enhancer-active conditions.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99" y="174459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Methods Converge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biological evidence for TATA-box regulatory grammar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23260" y="2304289"/>
            <a:ext cx="2377440" cy="1005840"/>
          </a:xfrm>
          <a:prstGeom prst="ellipse">
            <a:avLst/>
          </a:prstGeom>
          <a:solidFill>
            <a:srgbClr val="0F2044"/>
          </a:solidFill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23260" y="2304289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TATA-box 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128–145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965960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Heatmaps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13350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High-importance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at bp 108–140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1133858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64992" y="1133858"/>
            <a:ext cx="19659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4992" y="113385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Pos. Insert.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38144" y="137160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bp 130–145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ISM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09728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097280"/>
            <a:ext cx="196596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097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 Evolution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3952" y="13350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TATA-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mutations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1965960" cy="20116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Input×Gradient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34381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+attribution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bp 128–145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29000" y="400507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29000" y="4005072"/>
            <a:ext cx="1965960" cy="201168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40050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Filter Motifs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02152" y="42428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filters match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TATA/TBP family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3200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3200400"/>
            <a:ext cx="1965960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3200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JASPAR Enrichment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73952" y="34381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 p-adj &lt;0.001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3.4–4.7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11980" y="2807209"/>
            <a:ext cx="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11980" y="2807209"/>
            <a:ext cx="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722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tell us about plant promoter regulation and model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4048" cy="166420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840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143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encoding drives the Maize gain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453896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0.397–0.458 R² drop when species shuffled (Maize only). Maize protoplasts have fundamentally different transcriptional environments from tobacco leaf. Explicit species one-hot lets the model apply different regulatory grammar per host.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051560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051560"/>
            <a:ext cx="384048" cy="1664208"/>
          </a:xfrm>
          <a:prstGeom prst="roundRect">
            <a:avLst>
              <a:gd name="adj" fmla="val 14286"/>
            </a:avLst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051560"/>
            <a:ext cx="3840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67528" y="1143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branch is the dominant predictor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1453896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drop 0.72–1.34 in ALL conditions, both backbones. The Conv1d layers learn exact TATA-box 8-mer motifs. The BiLSTM integrates these into a position-sensitive representation. The frozen LM adds a stable residual prior (0.006–0.069 drop).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384048" cy="1664208"/>
          </a:xfrm>
          <a:prstGeom prst="roundRect">
            <a:avLst>
              <a:gd name="adj" fmla="val 14286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3840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2953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 adds no information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26440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≈0.000 R² drop in all conditions. GC composition is already implicitly captured by the one-hot CNN branch. Removing GC from the fusion layer is recommended in v3 to simplify the model without sacrificing performance.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862072"/>
            <a:ext cx="4206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2862072"/>
            <a:ext cx="384048" cy="1664208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862072"/>
            <a:ext cx="3840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67528" y="2953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AgroNT's plant pretraining confers small but consistent edge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67528" y="326440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mean R² = 0.010 (AgroNT 0.692 vs GENERator 0.682). Plant-specific pretraining adds marginal value. The hybrid architecture is robust to backbone choice — CNN branch drives condition-specific variation.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7445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and the roadmap for next project phase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54864" cy="5486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206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61288"/>
            <a:ext cx="219456" cy="21945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114300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No-enh Maize Gap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43560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0.606 still trails with-enhancer conditions. Maize protoplast transcriptional system not fully captured by species one-hot alone. Multi-species training data or explicit maize regulatory features needed.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051560"/>
            <a:ext cx="4206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01768" y="1161288"/>
            <a:ext cx="219456" cy="219456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94376" y="114300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170bp Window Only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143560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regulatory elements (enhancers, silencers, upstream ORFs) not captured. Extension to longer genomic windows would require architecture changes but could substantially improve prediction.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206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2395728"/>
            <a:ext cx="219456" cy="219456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" y="237744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k-mer Features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7004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recommended adding positional k-mer encoding (not just frequency). Expected to benefit maize conditions where binding site position matters most.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4206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01768" y="2395728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94376" y="237744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GC Content in v3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267004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permutation importance confirms GC is redundant. Should be removed after isolated testing (v1+GC only, no species) to confirm it is not masked by species feature.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4206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6928" y="3630168"/>
            <a:ext cx="219456" cy="21945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9536" y="361188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JASPAR 2024 Coverage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90448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analysis covers CORE Plants motifs only. Extension to ChIP-seq validated plant TF motifs and JASPAR 2024 full database would provide more comprehensive regulatory coverage.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3520440"/>
            <a:ext cx="4206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01768" y="3630168"/>
            <a:ext cx="219456" cy="21945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94376" y="361188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Species Encoding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390448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one-hot: species-specific regulatory grammar embeddings from comparative genomics could capture host-specific transcriptional context more precisely.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868680"/>
            <a:ext cx="4572000" cy="0"/>
          </a:xfrm>
          <a:prstGeom prst="line">
            <a:avLst/>
          </a:prstGeom>
          <a:noFill/>
          <a:ln w="1905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achieved (With-enh Dark Tobacco)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0241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R² gain AgroNT v1→v2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241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 (No-enh Dark Maize)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0241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methods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417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interpretability evidence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938528"/>
            <a:ext cx="164592" cy="164592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190195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frozen-backbone architecture achieves R² up to 0.768 with only 1.1M trainable params — full training in &lt;30 min on a single GPU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441448"/>
            <a:ext cx="164592" cy="164592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404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 + species identity in v2 yields consistent R² improvements across all 12 model-condition pairs; species one-hot explains the Maize gain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944368"/>
            <a:ext cx="164592" cy="164592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290779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importance: CNN+BiLSTM is the dominant branch (R² drop 0.72–1.34); LM adds stable prior; GC is redundant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447288"/>
            <a:ext cx="164592" cy="164592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41071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interpretability methods (ISM, zone clustering, TATA insertion, seq. evolution, attribution, JASPAR enrichment) converge on TATA-box proximal elements (bp 128–145) as the primary regulatory signal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164592" cy="164592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91363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 validation confirms TATA-box presence increases predicted activity in all conditions; TFBS insertions additively boost predictions in enhancer-active conditions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1E4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Koushik Govardhanam  |  Auburn University |  Spring 2026  |  Prof. Zongliang Yue &amp; Prof. Hao Chen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5460</TotalTime>
  <Words>2463</Words>
  <Application>Microsoft Macintosh PowerPoint</Application>
  <PresentationFormat>On-screen Show (16:9)</PresentationFormat>
  <Paragraphs>455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CNN+BiLSTM &amp; Genomic LM for Plant Promoter Prediction</dc:title>
  <dc:subject>PptxGenJS Presentation</dc:subject>
  <dc:creator>Koushik Govardhanam</dc:creator>
  <cp:lastModifiedBy>Koushik Govardhanam</cp:lastModifiedBy>
  <cp:revision>4</cp:revision>
  <dcterms:created xsi:type="dcterms:W3CDTF">2026-04-23T17:16:59Z</dcterms:created>
  <dcterms:modified xsi:type="dcterms:W3CDTF">2026-04-27T13:13:47Z</dcterms:modified>
</cp:coreProperties>
</file>